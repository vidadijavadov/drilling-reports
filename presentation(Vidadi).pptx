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6" r:id="rId9"/>
    <p:sldId id="261" r:id="rId10"/>
    <p:sldId id="267" r:id="rId11"/>
    <p:sldId id="268" r:id="rId12"/>
    <p:sldId id="262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82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08192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47104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86016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24928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63840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02752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41664" y="2743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08192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47104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86016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24928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63840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02752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41664" y="10972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08192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47104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86016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24928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02752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41664" y="19202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66928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08192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47104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86016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24928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02752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66928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08192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47104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86016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24928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863840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02752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741664" y="35661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02920" y="6400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640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TECHNICAL TASK – STAGE 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" y="11430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Report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5029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 · NDS Event Matching · NLP Analysis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02920" y="4114800"/>
            <a:ext cx="841248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EILINK R&amp;D CENTER  ·  Pipeline Architecture &amp; Implementation</a:t>
            </a:r>
            <a:endParaRPr 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917E43-8783-9C94-77C3-F6E00F77A7B3}"/>
              </a:ext>
            </a:extLst>
          </p:cNvPr>
          <p:cNvSpPr txBox="1"/>
          <p:nvPr/>
        </p:nvSpPr>
        <p:spPr>
          <a:xfrm>
            <a:off x="7109957" y="4202668"/>
            <a:ext cx="1617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Vidadi Cavadov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291840"/>
          </a:xfrm>
          <a:prstGeom prst="rect">
            <a:avLst/>
          </a:prstGeom>
          <a:solidFill>
            <a:srgbClr val="F4F8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051560" y="1737360"/>
            <a:ext cx="118872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Extraction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651760" cy="3291840"/>
          </a:xfrm>
          <a:prstGeom prst="rect">
            <a:avLst/>
          </a:prstGeom>
          <a:solidFill>
            <a:srgbClr val="F4F8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65176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4069080" y="1737360"/>
            <a:ext cx="118872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 Event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55080" y="914400"/>
            <a:ext cx="2651760" cy="3291840"/>
          </a:xfrm>
          <a:prstGeom prst="rect">
            <a:avLst/>
          </a:prstGeom>
          <a:solidFill>
            <a:srgbClr val="F4F8F8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914400"/>
            <a:ext cx="2651760" cy="731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005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7086600" y="1737360"/>
            <a:ext cx="1188720" cy="2743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2103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980944" y="2560320"/>
            <a:ext cx="347472" cy="0"/>
          </a:xfrm>
          <a:prstGeom prst="line">
            <a:avLst/>
          </a:prstGeom>
          <a:noFill/>
          <a:ln w="317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36976" y="2478024"/>
            <a:ext cx="109728" cy="16459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98464" y="2560320"/>
            <a:ext cx="347472" cy="0"/>
          </a:xfrm>
          <a:prstGeom prst="line">
            <a:avLst/>
          </a:prstGeom>
          <a:noFill/>
          <a:ln w="317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54496" y="2478024"/>
            <a:ext cx="109728" cy="16459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1000 PDF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Reports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nds_events.xlsx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Matched ops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2519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NER · Tags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· Insights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PDF Parsing &amp; Structured Data Extraction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3075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— word-level bounding boxes + table detection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187452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double-letter artefact fix ('SSttaarrtt' → 'Start')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59736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2459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244144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heading detection — table classified by nearest heading, not column names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368" y="300837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Drilling Fluid table pivot (rows = properties, cols = samples)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593592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357530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metadata extraction with _STOP_LABEL lookahead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160520"/>
            <a:ext cx="256032" cy="256032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414223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/>
              <a:t>Fallback Keyword-based Classification — table type identified via column terminology (e.g., 'c1 (ppm)', 'downtime') when heading detection fails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822960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868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Data Tables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280160"/>
            <a:ext cx="4069080" cy="512064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128930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/ Header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15087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Wellbore ID, Period, Operator, Rig, Depths, HPHT…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856232"/>
            <a:ext cx="4069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856232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64608" y="1865376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08483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Start/End time, Depth, Main–Sub Activity, State, Remark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2432304"/>
            <a:ext cx="4069080" cy="512064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2432304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2441448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Fluid Table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4608" y="26609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type, Density, Plastic visc., Yield point, Sample info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008376"/>
            <a:ext cx="4069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008376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64608" y="3017520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Failure Table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64608" y="323697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time, Depth, Equip System/Class, Downtime, Repaired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584448"/>
            <a:ext cx="4069080" cy="512064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3584448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64608" y="3593592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Reading Table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381304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Class, Depth top/bottom, Highest gas, C1–IC5 (ppm)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4160520"/>
            <a:ext cx="4069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54880" y="4160520"/>
            <a:ext cx="54864" cy="5120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4169664"/>
            <a:ext cx="3886200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Sections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64608" y="4389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activities · Summary of planned activities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Key Technical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59536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Heading-based Table Classification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115568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vary across PDF vendors — keyword matching silently misclassifies tables.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pdfplumber bounding boxes to find the nearest printed section heading above each table. 'Equipment Failure Information' → Equipment Failure Table, regardless of column names.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56232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1892808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Transposed Drilling Fluid Table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" y="2148840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table is transposed: rows = properties, columns = samples. Standard row extraction produces garbage.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404872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transposed layout by checking if first column contains ≥3 known property names. Pivot into one dict per sample column.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889504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926080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 Multi-Column Layout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" y="3182112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collapses 3-column metadata page into one long line — line-by-line regex fails.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438144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regex anchors on ALL-CAPS sentence text + stops at known section keywords. Operator/Rig Name stops on a curated label list (_STOP_LABEL).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922776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0040" y="3922776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3959352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Mapping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" y="4215384"/>
            <a:ext cx="8275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Keywords caused overlapping matches across different table types, leading to silent misclassification (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“class” appearing in both gas and equipment failure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4471416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000" dirty="0"/>
              <a:t>Refined Keyword Mapping — ensured mutually exclusive table identification by using unique, domain-specific terminology to prevent overlapping matches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FF5772-4771-C2AC-90B0-3B2568892CCA}"/>
              </a:ext>
            </a:extLst>
          </p:cNvPr>
          <p:cNvSpPr/>
          <p:nvPr/>
        </p:nvSpPr>
        <p:spPr>
          <a:xfrm>
            <a:off x="0" y="-17585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</a:t>
            </a:r>
            <a:r>
              <a:rPr lang="az-Latn-AZ" sz="19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r>
              <a:rPr lang="az-Latn-AZ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9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r>
              <a:rPr lang="az-Latn-AZ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9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BE9C71E-F14C-B7EB-F5FC-6450F2A005EC}"/>
              </a:ext>
            </a:extLst>
          </p:cNvPr>
          <p:cNvSpPr/>
          <p:nvPr/>
        </p:nvSpPr>
        <p:spPr>
          <a:xfrm>
            <a:off x="195305" y="822960"/>
            <a:ext cx="2639099" cy="174879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5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</a:t>
            </a:r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5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z-Latn-AZ" sz="15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az-Latn-AZ" sz="95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az-Latn-AZ" sz="95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Wellbore ID / Spud Date / HPHT: 100% </a:t>
            </a:r>
            <a:r>
              <a:rPr lang="en-US" sz="950" dirty="0"/>
              <a:t>🟢</a:t>
            </a:r>
            <a:endParaRPr lang="az-Latn-AZ" sz="950" dirty="0"/>
          </a:p>
          <a:p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Operator / Rig Name: 99.9% </a:t>
            </a:r>
            <a:r>
              <a:rPr lang="en-US" sz="950" dirty="0"/>
              <a:t>🟢</a:t>
            </a:r>
            <a:endParaRPr lang="az-Latn-AZ" sz="950" dirty="0"/>
          </a:p>
          <a:p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Formation Strength / Hole Diameter: ~70%</a:t>
            </a:r>
            <a:r>
              <a:rPr lang="en-US" sz="1000" dirty="0"/>
              <a:t>🟡</a:t>
            </a:r>
            <a:r>
              <a:rPr lang="az-Latn-AZ" sz="1000" dirty="0"/>
              <a:t> </a:t>
            </a:r>
            <a:endParaRPr lang="en-US" sz="95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7D8B5E3-18E9-73F7-B326-9EE8336E8D4F}"/>
              </a:ext>
            </a:extLst>
          </p:cNvPr>
          <p:cNvSpPr/>
          <p:nvPr/>
        </p:nvSpPr>
        <p:spPr>
          <a:xfrm>
            <a:off x="195305" y="822960"/>
            <a:ext cx="54864" cy="174879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E867DF8C-75A7-4539-DD0F-6C661733CF36}"/>
              </a:ext>
            </a:extLst>
          </p:cNvPr>
          <p:cNvSpPr/>
          <p:nvPr/>
        </p:nvSpPr>
        <p:spPr>
          <a:xfrm>
            <a:off x="6211357" y="822960"/>
            <a:ext cx="2639099" cy="174879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5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az-Latn-AZ" sz="150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50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Operations Table: 99.5% </a:t>
            </a:r>
            <a:r>
              <a:rPr lang="en-US" sz="950" dirty="0"/>
              <a:t>🟢</a:t>
            </a:r>
            <a:endParaRPr lang="az-Latn-AZ" sz="950" dirty="0"/>
          </a:p>
          <a:p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Drilling Fluid Table: 73.6% </a:t>
            </a:r>
            <a:r>
              <a:rPr lang="en-US" sz="950" dirty="0"/>
              <a:t>🟡</a:t>
            </a:r>
            <a:endParaRPr lang="az-Latn-AZ" sz="950" dirty="0"/>
          </a:p>
          <a:p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chemeClr val="tx2"/>
                </a:solidFill>
              </a:rPr>
              <a:t>Equipment Failure: 14.4% </a:t>
            </a:r>
            <a:r>
              <a:rPr lang="en-US" sz="950" dirty="0"/>
              <a:t>🟠</a:t>
            </a:r>
          </a:p>
          <a:p>
            <a:endParaRPr lang="az-Latn-AZ" sz="15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150F25AC-6202-4040-6456-3609C92ACE91}"/>
              </a:ext>
            </a:extLst>
          </p:cNvPr>
          <p:cNvSpPr/>
          <p:nvPr/>
        </p:nvSpPr>
        <p:spPr>
          <a:xfrm>
            <a:off x="3203331" y="822960"/>
            <a:ext cx="2639099" cy="174879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5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r>
              <a:rPr lang="az-Latn-AZ" sz="15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5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</a:t>
            </a:r>
            <a:endParaRPr lang="az-Latn-AZ" sz="150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50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az-Latn-AZ" sz="950" dirty="0" err="1">
                <a:solidFill>
                  <a:schemeClr val="tx2"/>
                </a:solidFill>
              </a:rPr>
              <a:t>Summary</a:t>
            </a:r>
            <a:r>
              <a:rPr lang="az-Latn-AZ" sz="950" dirty="0">
                <a:solidFill>
                  <a:schemeClr val="tx2"/>
                </a:solidFill>
              </a:rPr>
              <a:t> of </a:t>
            </a:r>
            <a:r>
              <a:rPr lang="az-Latn-AZ" sz="950" dirty="0" err="1">
                <a:solidFill>
                  <a:schemeClr val="tx2"/>
                </a:solidFill>
              </a:rPr>
              <a:t>Activities</a:t>
            </a:r>
            <a:r>
              <a:rPr lang="en-US" sz="950" dirty="0">
                <a:solidFill>
                  <a:schemeClr val="tx2"/>
                </a:solidFill>
              </a:rPr>
              <a:t>: 9</a:t>
            </a:r>
            <a:r>
              <a:rPr lang="az-Latn-AZ" sz="950" dirty="0">
                <a:solidFill>
                  <a:schemeClr val="tx2"/>
                </a:solidFill>
              </a:rPr>
              <a:t>2</a:t>
            </a:r>
            <a:r>
              <a:rPr lang="en-US" sz="950" dirty="0">
                <a:solidFill>
                  <a:schemeClr val="tx2"/>
                </a:solidFill>
              </a:rPr>
              <a:t>.</a:t>
            </a:r>
            <a:r>
              <a:rPr lang="az-Latn-AZ" sz="950" dirty="0">
                <a:solidFill>
                  <a:schemeClr val="tx2"/>
                </a:solidFill>
              </a:rPr>
              <a:t>3</a:t>
            </a:r>
            <a:r>
              <a:rPr lang="en-US" sz="950" dirty="0">
                <a:solidFill>
                  <a:schemeClr val="tx2"/>
                </a:solidFill>
              </a:rPr>
              <a:t>% </a:t>
            </a:r>
            <a:r>
              <a:rPr lang="en-US" sz="950" dirty="0"/>
              <a:t>🟢</a:t>
            </a:r>
            <a:endParaRPr lang="az-Latn-AZ" sz="950" dirty="0"/>
          </a:p>
          <a:p>
            <a:endParaRPr lang="en-US" sz="9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az-Latn-AZ" sz="950" dirty="0" err="1">
                <a:solidFill>
                  <a:schemeClr val="tx2"/>
                </a:solidFill>
              </a:rPr>
              <a:t>Summary</a:t>
            </a:r>
            <a:r>
              <a:rPr lang="az-Latn-AZ" sz="950" dirty="0">
                <a:solidFill>
                  <a:schemeClr val="tx2"/>
                </a:solidFill>
              </a:rPr>
              <a:t> of </a:t>
            </a:r>
            <a:r>
              <a:rPr lang="az-Latn-AZ" sz="950" dirty="0" err="1">
                <a:solidFill>
                  <a:schemeClr val="tx2"/>
                </a:solidFill>
              </a:rPr>
              <a:t>Planned</a:t>
            </a:r>
            <a:r>
              <a:rPr lang="az-Latn-AZ" sz="950" dirty="0">
                <a:solidFill>
                  <a:schemeClr val="tx2"/>
                </a:solidFill>
              </a:rPr>
              <a:t> </a:t>
            </a:r>
            <a:r>
              <a:rPr lang="az-Latn-AZ" sz="950" dirty="0" err="1">
                <a:solidFill>
                  <a:schemeClr val="tx2"/>
                </a:solidFill>
              </a:rPr>
              <a:t>Activities</a:t>
            </a:r>
            <a:r>
              <a:rPr lang="en-US" sz="950" dirty="0">
                <a:solidFill>
                  <a:schemeClr val="tx2"/>
                </a:solidFill>
              </a:rPr>
              <a:t>: </a:t>
            </a:r>
            <a:r>
              <a:rPr lang="az-Latn-AZ" sz="950" dirty="0">
                <a:solidFill>
                  <a:schemeClr val="tx2"/>
                </a:solidFill>
              </a:rPr>
              <a:t>93.9</a:t>
            </a:r>
            <a:r>
              <a:rPr lang="en-US" sz="950" dirty="0">
                <a:solidFill>
                  <a:schemeClr val="tx2"/>
                </a:solidFill>
              </a:rPr>
              <a:t>%</a:t>
            </a:r>
            <a:r>
              <a:rPr lang="en-US" sz="950" dirty="0"/>
              <a:t> 🟢</a:t>
            </a:r>
            <a:r>
              <a:rPr lang="en-US" sz="950" dirty="0">
                <a:solidFill>
                  <a:schemeClr val="tx2"/>
                </a:solidFill>
              </a:rPr>
              <a:t> </a:t>
            </a:r>
            <a:endParaRPr lang="az-Latn-AZ" sz="950" dirty="0"/>
          </a:p>
          <a:p>
            <a:endParaRPr lang="en-US" sz="950" dirty="0"/>
          </a:p>
          <a:p>
            <a:endParaRPr lang="az-Latn-AZ" sz="15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CE51A23-878F-A481-5997-7EA5D66FC474}"/>
              </a:ext>
            </a:extLst>
          </p:cNvPr>
          <p:cNvSpPr/>
          <p:nvPr/>
        </p:nvSpPr>
        <p:spPr>
          <a:xfrm>
            <a:off x="6213350" y="822960"/>
            <a:ext cx="54864" cy="174879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EBF93953-E3B3-4708-A136-1848B6B1EE6A}"/>
              </a:ext>
            </a:extLst>
          </p:cNvPr>
          <p:cNvSpPr/>
          <p:nvPr/>
        </p:nvSpPr>
        <p:spPr>
          <a:xfrm>
            <a:off x="3203331" y="822960"/>
            <a:ext cx="54864" cy="174879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41444F-0280-87D0-218E-F01686A2BDDC}"/>
              </a:ext>
            </a:extLst>
          </p:cNvPr>
          <p:cNvSpPr txBox="1"/>
          <p:nvPr/>
        </p:nvSpPr>
        <p:spPr>
          <a:xfrm>
            <a:off x="311247" y="4166971"/>
            <a:ext cx="7489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az-Latn-AZ" sz="16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r>
              <a:rPr lang="en-US" sz="1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r>
              <a:rPr lang="en-US" sz="1200" dirty="0">
                <a:solidFill>
                  <a:schemeClr val="tx2"/>
                </a:solidFill>
              </a:rPr>
              <a:t>Lower coverage for Equipment Failure is expected; it reflects the actual occurrence of events in the logs, not an extraction error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A2835D9A-5173-9C79-AAFC-F5E2E2326CCE}"/>
              </a:ext>
            </a:extLst>
          </p:cNvPr>
          <p:cNvSpPr/>
          <p:nvPr/>
        </p:nvSpPr>
        <p:spPr>
          <a:xfrm>
            <a:off x="250168" y="3016499"/>
            <a:ext cx="8183413" cy="89255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950" dirty="0"/>
          </a:p>
          <a:p>
            <a:endParaRPr lang="az-Latn-AZ" sz="15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DC53F6-8AB4-1AA2-7D13-AB71C17A3D87}"/>
              </a:ext>
            </a:extLst>
          </p:cNvPr>
          <p:cNvSpPr txBox="1"/>
          <p:nvPr/>
        </p:nvSpPr>
        <p:spPr>
          <a:xfrm>
            <a:off x="250167" y="3016499"/>
            <a:ext cx="818341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6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r>
              <a:rPr lang="az-Latn-AZ" sz="1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6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r>
              <a:rPr lang="en-US" sz="16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Automated extraction processes 1000 reports in under 5 minutes, replacing hours of manual data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The 99.5% success rate in Operations Table extraction demonstrates that the system is production-ready for large-scale drilling datasets.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1B864316-CBB4-EA27-465F-DF5C062C0A73}"/>
              </a:ext>
            </a:extLst>
          </p:cNvPr>
          <p:cNvSpPr/>
          <p:nvPr/>
        </p:nvSpPr>
        <p:spPr>
          <a:xfrm>
            <a:off x="256383" y="3016499"/>
            <a:ext cx="54864" cy="892552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5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NDS Event Matching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C8EAE8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For each NDS event in nds_events.xlsx, find the best-matching operation entry across all PDFs of the corresponding well using text similarity — output matched document, similarity score, and textual excerpts.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Algorithms — Benchmarked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" y="19476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/>
              <a:t>IDF-Weighted Keyword Boosting</a:t>
            </a:r>
          </a:p>
        </p:txBody>
      </p:sp>
      <p:sp>
        <p:nvSpPr>
          <p:cNvPr id="10" name="Text 8"/>
          <p:cNvSpPr/>
          <p:nvPr/>
        </p:nvSpPr>
        <p:spPr>
          <a:xfrm>
            <a:off x="448056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tx2"/>
                </a:solidFill>
              </a:rPr>
              <a:t>Statistically boosts critical drilling signals like "stuck", "kick", or "loss" based on their corpus rarity.</a:t>
            </a:r>
          </a:p>
        </p:txBody>
      </p:sp>
      <p:sp>
        <p:nvSpPr>
          <p:cNvPr id="11" name="Shape 9"/>
          <p:cNvSpPr/>
          <p:nvPr/>
        </p:nvSpPr>
        <p:spPr>
          <a:xfrm>
            <a:off x="4617720" y="1901952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901952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45736" y="19476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45736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ranking, better for short queries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15184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" y="2660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2907792"/>
            <a:ext cx="3931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chemeClr val="tx2"/>
                </a:solidFill>
              </a:rPr>
              <a:t>Uses all-MiniLM-L6-v2 to capture contextual meaning and handle paraphrased event descriptions.</a:t>
            </a:r>
          </a:p>
        </p:txBody>
      </p:sp>
      <p:sp>
        <p:nvSpPr>
          <p:cNvPr id="19" name="Shape 17"/>
          <p:cNvSpPr/>
          <p:nvPr/>
        </p:nvSpPr>
        <p:spPr>
          <a:xfrm>
            <a:off x="4379976" y="2606040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2615184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45736" y="26609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Numeric Overlap Validation</a:t>
            </a:r>
          </a:p>
        </p:txBody>
      </p:sp>
      <p:sp>
        <p:nvSpPr>
          <p:cNvPr id="22" name="Text 20"/>
          <p:cNvSpPr/>
          <p:nvPr/>
        </p:nvSpPr>
        <p:spPr>
          <a:xfrm>
            <a:off x="4745736" y="2907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tx2"/>
                </a:solidFill>
              </a:rPr>
              <a:t>Specialized signal to match precise drilling values (e.g., "0.16 deg"), handling European decimal formats.</a:t>
            </a:r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328416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" y="33741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above scores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3328416"/>
            <a:ext cx="4114800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17720" y="3328416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45736" y="33741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/>
              <a:t>Drilling Abbreviation Expansion</a:t>
            </a:r>
          </a:p>
        </p:txBody>
      </p:sp>
      <p:sp>
        <p:nvSpPr>
          <p:cNvPr id="30" name="Text 28"/>
          <p:cNvSpPr/>
          <p:nvPr/>
        </p:nvSpPr>
        <p:spPr>
          <a:xfrm>
            <a:off x="4745736" y="36210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chemeClr val="tx2"/>
                </a:solidFill>
              </a:rPr>
              <a:t>Normalizes oilfield shorthand (POOH, RIH, BHA) into full English before analysis to maximize model recall.</a:t>
            </a:r>
          </a:p>
        </p:txBody>
      </p:sp>
      <p:sp>
        <p:nvSpPr>
          <p:cNvPr id="31" name="Text 29"/>
          <p:cNvSpPr/>
          <p:nvPr/>
        </p:nvSpPr>
        <p:spPr>
          <a:xfrm>
            <a:off x="320040" y="4160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NDS Event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4348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2"/>
                </a:solidFill>
              </a:rPr>
              <a:t>Best Match:</a:t>
            </a:r>
            <a:r>
              <a:rPr lang="en-US" sz="1000" dirty="0">
                <a:solidFill>
                  <a:schemeClr val="tx2"/>
                </a:solidFill>
              </a:rPr>
              <a:t> Top candidate with highest ensemble score.</a:t>
            </a:r>
            <a:endParaRPr lang="az-Latn-AZ" sz="1000" dirty="0">
              <a:solidFill>
                <a:schemeClr val="tx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chemeClr val="tx2"/>
                </a:solidFill>
              </a:rPr>
              <a:t>Top-K Results:</a:t>
            </a:r>
            <a:r>
              <a:rPr lang="en-US" sz="1000" dirty="0">
                <a:solidFill>
                  <a:schemeClr val="tx2"/>
                </a:solidFill>
              </a:rPr>
              <a:t> Ranked list of the 3 most likely matches with score breakdown (SBERT, BM25, etc.).</a:t>
            </a:r>
            <a:endParaRPr lang="en-US" sz="95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4785ADD-06F3-E3BF-3AC3-BF7F563DF8A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9108B-DE47-3E9F-A8B1-172D5EDD5999}"/>
              </a:ext>
            </a:extLst>
          </p:cNvPr>
          <p:cNvSpPr txBox="1"/>
          <p:nvPr/>
        </p:nvSpPr>
        <p:spPr>
          <a:xfrm>
            <a:off x="0" y="138866"/>
            <a:ext cx="582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</a:t>
            </a:r>
            <a:r>
              <a:rPr lang="az-Latn-AZ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r>
              <a:rPr lang="az-Latn-AZ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NDS  </a:t>
            </a:r>
            <a:r>
              <a:rPr lang="az-Latn-AZ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r>
              <a:rPr lang="az-Latn-AZ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8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1E4DE75-9223-8FDA-4A0C-53205B0E95AB}"/>
              </a:ext>
            </a:extLst>
          </p:cNvPr>
          <p:cNvSpPr/>
          <p:nvPr/>
        </p:nvSpPr>
        <p:spPr>
          <a:xfrm>
            <a:off x="445242" y="1357914"/>
            <a:ext cx="7582486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700" b="1" dirty="0">
                <a:solidFill>
                  <a:schemeClr val="accent5"/>
                </a:solidFill>
              </a:rPr>
              <a:t>Semantic Similarity (50%):</a:t>
            </a:r>
            <a:r>
              <a:rPr lang="en-US" sz="1700" dirty="0">
                <a:solidFill>
                  <a:schemeClr val="accent5"/>
                </a:solidFill>
              </a:rPr>
              <a:t> </a:t>
            </a:r>
            <a:r>
              <a:rPr lang="en-US" sz="1500" dirty="0">
                <a:solidFill>
                  <a:schemeClr val="tx2"/>
                </a:solidFill>
              </a:rPr>
              <a:t>Utilizes all-MiniLM-L6-v2 (Sentence-BERT) to capture the underlying meaning of remarks beyond simple keywords.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3F3205B-8494-6662-6ACF-4D5044A6B005}"/>
              </a:ext>
            </a:extLst>
          </p:cNvPr>
          <p:cNvSpPr/>
          <p:nvPr/>
        </p:nvSpPr>
        <p:spPr>
          <a:xfrm>
            <a:off x="457199" y="2198109"/>
            <a:ext cx="7582485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700" b="1" dirty="0">
                <a:solidFill>
                  <a:schemeClr val="accent5"/>
                </a:solidFill>
              </a:rPr>
              <a:t>Lexical Matching (28%):</a:t>
            </a:r>
            <a:r>
              <a:rPr lang="en-US" sz="1700" dirty="0">
                <a:solidFill>
                  <a:schemeClr val="accent5"/>
                </a:solidFill>
              </a:rPr>
              <a:t> </a:t>
            </a:r>
            <a:r>
              <a:rPr lang="en-US" sz="1500" dirty="0">
                <a:solidFill>
                  <a:schemeClr val="tx2"/>
                </a:solidFill>
              </a:rPr>
              <a:t>Implements </a:t>
            </a:r>
            <a:r>
              <a:rPr lang="az-Latn-AZ" sz="1500" dirty="0">
                <a:solidFill>
                  <a:schemeClr val="tx2"/>
                </a:solidFill>
              </a:rPr>
              <a:t>BM25</a:t>
            </a:r>
            <a:r>
              <a:rPr lang="en-US" sz="1500" dirty="0">
                <a:solidFill>
                  <a:schemeClr val="tx2"/>
                </a:solidFill>
              </a:rPr>
              <a:t> scoring to handle statistical word overlaps between NDS events and daily logs.</a:t>
            </a: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7E5FF0A-ED07-FFFA-08AE-235512D8166F}"/>
              </a:ext>
            </a:extLst>
          </p:cNvPr>
          <p:cNvSpPr/>
          <p:nvPr/>
        </p:nvSpPr>
        <p:spPr>
          <a:xfrm>
            <a:off x="457200" y="3092800"/>
            <a:ext cx="7582486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700" b="1" dirty="0">
                <a:solidFill>
                  <a:schemeClr val="accent5"/>
                </a:solidFill>
              </a:rPr>
              <a:t>Domain-Specific Boosting (14%):</a:t>
            </a:r>
            <a:r>
              <a:rPr lang="en-US" sz="1700" dirty="0">
                <a:solidFill>
                  <a:schemeClr val="accent5"/>
                </a:solidFill>
              </a:rPr>
              <a:t> </a:t>
            </a:r>
            <a:r>
              <a:rPr lang="en-US" sz="1500" dirty="0">
                <a:solidFill>
                  <a:schemeClr val="tx2"/>
                </a:solidFill>
              </a:rPr>
              <a:t>Assigns higher weights to critical drilling terms like </a:t>
            </a:r>
            <a:r>
              <a:rPr lang="en-US" sz="1500" i="1" dirty="0">
                <a:solidFill>
                  <a:schemeClr val="tx2"/>
                </a:solidFill>
              </a:rPr>
              <a:t>"stuck"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i="1" dirty="0">
                <a:solidFill>
                  <a:schemeClr val="tx2"/>
                </a:solidFill>
              </a:rPr>
              <a:t>"loss"</a:t>
            </a:r>
            <a:r>
              <a:rPr lang="en-US" sz="1500" dirty="0">
                <a:solidFill>
                  <a:schemeClr val="tx2"/>
                </a:solidFill>
              </a:rPr>
              <a:t>, and </a:t>
            </a:r>
            <a:r>
              <a:rPr lang="en-US" sz="1500" i="1" dirty="0">
                <a:solidFill>
                  <a:schemeClr val="tx2"/>
                </a:solidFill>
              </a:rPr>
              <a:t>"kick"</a:t>
            </a:r>
            <a:r>
              <a:rPr lang="en-US" sz="1500" dirty="0">
                <a:solidFill>
                  <a:schemeClr val="tx2"/>
                </a:solidFill>
              </a:rPr>
              <a:t> using an IDF-weighted keyword signal.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77C9716-D755-024E-843A-14B07382FB6B}"/>
              </a:ext>
            </a:extLst>
          </p:cNvPr>
          <p:cNvSpPr/>
          <p:nvPr/>
        </p:nvSpPr>
        <p:spPr>
          <a:xfrm>
            <a:off x="457200" y="3987491"/>
            <a:ext cx="7582484" cy="62179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700" b="1" dirty="0">
                <a:solidFill>
                  <a:schemeClr val="accent5"/>
                </a:solidFill>
              </a:rPr>
              <a:t>Numeric Value Overlap (8%):</a:t>
            </a:r>
            <a:r>
              <a:rPr lang="en-US" sz="1700" dirty="0">
                <a:solidFill>
                  <a:schemeClr val="accent5"/>
                </a:solidFill>
              </a:rPr>
              <a:t> </a:t>
            </a:r>
            <a:r>
              <a:rPr lang="en-US" sz="1500" dirty="0">
                <a:solidFill>
                  <a:schemeClr val="tx2"/>
                </a:solidFill>
              </a:rPr>
              <a:t>Matches precise engineering data (e.g., inclinations or depths like </a:t>
            </a:r>
            <a:r>
              <a:rPr lang="en-US" sz="1500" i="1" dirty="0">
                <a:solidFill>
                  <a:schemeClr val="tx2"/>
                </a:solidFill>
              </a:rPr>
              <a:t>"0.16"</a:t>
            </a:r>
            <a:r>
              <a:rPr lang="en-US" sz="1500" dirty="0">
                <a:solidFill>
                  <a:schemeClr val="tx2"/>
                </a:solidFill>
              </a:rPr>
              <a:t>) to act as "hard anchors" for high-confidence pairing.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62FE983-8EC5-0FBE-201B-454233230D71}"/>
              </a:ext>
            </a:extLst>
          </p:cNvPr>
          <p:cNvSpPr/>
          <p:nvPr/>
        </p:nvSpPr>
        <p:spPr>
          <a:xfrm>
            <a:off x="457200" y="1372041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6B96836-D416-29BF-94E8-667B44D7A8BB}"/>
              </a:ext>
            </a:extLst>
          </p:cNvPr>
          <p:cNvSpPr/>
          <p:nvPr/>
        </p:nvSpPr>
        <p:spPr>
          <a:xfrm>
            <a:off x="457199" y="2198109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A31111C-B001-116A-2543-42A92BF3B681}"/>
              </a:ext>
            </a:extLst>
          </p:cNvPr>
          <p:cNvSpPr/>
          <p:nvPr/>
        </p:nvSpPr>
        <p:spPr>
          <a:xfrm>
            <a:off x="457199" y="3092800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DCB16D5D-139A-EB42-E499-D395F9A5964A}"/>
              </a:ext>
            </a:extLst>
          </p:cNvPr>
          <p:cNvSpPr/>
          <p:nvPr/>
        </p:nvSpPr>
        <p:spPr>
          <a:xfrm>
            <a:off x="445242" y="3987491"/>
            <a:ext cx="54864" cy="621792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7F51F-1657-1F0C-DC81-48275FC79E18}"/>
              </a:ext>
            </a:extLst>
          </p:cNvPr>
          <p:cNvSpPr txBox="1"/>
          <p:nvPr/>
        </p:nvSpPr>
        <p:spPr>
          <a:xfrm>
            <a:off x="372794" y="811895"/>
            <a:ext cx="4600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az-Latn-AZ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r>
              <a:rPr lang="en-US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r>
              <a:rPr lang="az-Latn-AZ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35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252DBA-575E-5A2D-E8C3-AA7D147EFD2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</a:t>
            </a:r>
            <a:r>
              <a:rPr lang="az-Latn-AZ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az-Latn-AZ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r>
              <a:rPr lang="az-Latn-AZ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F9D24F98-E63E-125A-0496-D9863F5C2B4F}"/>
              </a:ext>
            </a:extLst>
          </p:cNvPr>
          <p:cNvSpPr/>
          <p:nvPr/>
        </p:nvSpPr>
        <p:spPr>
          <a:xfrm>
            <a:off x="320040" y="826331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Heading-based Table Classification</a:t>
            </a:r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az-Latn-AZ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950" b="1" dirty="0"/>
              <a:t> </a:t>
            </a:r>
            <a:r>
              <a:rPr lang="en-US" sz="950" b="1" dirty="0"/>
              <a:t>Problem:</a:t>
            </a:r>
            <a:r>
              <a:rPr lang="en-US" sz="950" dirty="0"/>
              <a:t> </a:t>
            </a:r>
            <a:r>
              <a:rPr lang="en-US" sz="950" dirty="0">
                <a:solidFill>
                  <a:schemeClr val="tx2"/>
                </a:solidFill>
              </a:rPr>
              <a:t>Engineering logs use heavy shorthand (RIH, POOH, BHA) that standard AI models fail to interpret correctly.</a:t>
            </a:r>
            <a:endParaRPr lang="az-Latn-AZ" sz="950" dirty="0">
              <a:solidFill>
                <a:schemeClr val="tx2"/>
              </a:solidFill>
            </a:endParaRPr>
          </a:p>
          <a:p>
            <a:endParaRPr lang="az-Latn-AZ" sz="950" dirty="0">
              <a:solidFill>
                <a:schemeClr val="tx2"/>
              </a:solidFill>
            </a:endParaRPr>
          </a:p>
          <a:p>
            <a:r>
              <a:rPr lang="az-Latn-AZ" sz="12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r>
              <a:rPr lang="az-Latn-AZ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tx2"/>
                </a:solidFill>
              </a:rPr>
              <a:t>Built a custom preprocessing pipeline expanding </a:t>
            </a:r>
            <a:r>
              <a:rPr lang="en-US" sz="1000" b="1" dirty="0">
                <a:solidFill>
                  <a:schemeClr val="tx2"/>
                </a:solidFill>
              </a:rPr>
              <a:t>50+ drilling abbreviations</a:t>
            </a:r>
            <a:r>
              <a:rPr lang="en-US" sz="1000" dirty="0">
                <a:solidFill>
                  <a:schemeClr val="tx2"/>
                </a:solidFill>
              </a:rPr>
              <a:t> into full English phrases before embedding generation.</a:t>
            </a:r>
            <a:endParaRPr lang="en-US" sz="950" dirty="0">
              <a:solidFill>
                <a:schemeClr val="tx2"/>
              </a:solidFill>
            </a:endParaRPr>
          </a:p>
          <a:p>
            <a:endParaRPr lang="en-US" sz="1150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C4D6C480-5819-9EFF-F21E-568779C469FC}"/>
              </a:ext>
            </a:extLst>
          </p:cNvPr>
          <p:cNvSpPr/>
          <p:nvPr/>
        </p:nvSpPr>
        <p:spPr>
          <a:xfrm>
            <a:off x="320040" y="822960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8BBABCB-CF8F-424B-D5BA-819AA2C70358}"/>
              </a:ext>
            </a:extLst>
          </p:cNvPr>
          <p:cNvSpPr/>
          <p:nvPr/>
        </p:nvSpPr>
        <p:spPr>
          <a:xfrm>
            <a:off x="320040" y="2951871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b="1" dirty="0"/>
              <a:t>Problem:</a:t>
            </a:r>
            <a:r>
              <a:rPr lang="az-Latn-AZ" sz="950" b="1" dirty="0"/>
              <a:t> </a:t>
            </a:r>
            <a:r>
              <a:rPr lang="en-US" sz="950" dirty="0"/>
              <a:t>Missing PDF reports for a specific wellbore would lead to zero results for valid NDS events</a:t>
            </a:r>
            <a:r>
              <a:rPr lang="az-Latn-AZ" sz="1200" dirty="0"/>
              <a:t>.</a:t>
            </a:r>
          </a:p>
          <a:p>
            <a:endParaRPr lang="az-Latn-AZ" sz="120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</a:t>
            </a:r>
            <a:r>
              <a:rPr lang="en-US" sz="950" b="1" dirty="0"/>
              <a:t>:</a:t>
            </a:r>
            <a:r>
              <a:rPr lang="en-US" sz="950" dirty="0"/>
              <a:t> </a:t>
            </a:r>
            <a:r>
              <a:rPr lang="en-US" sz="950" dirty="0">
                <a:solidFill>
                  <a:schemeClr val="tx2"/>
                </a:solidFill>
              </a:rPr>
              <a:t>Implemented a multi-tier search that automatically falls back to the same </a:t>
            </a:r>
            <a:r>
              <a:rPr lang="en-US" sz="950" b="1" dirty="0">
                <a:solidFill>
                  <a:schemeClr val="tx2"/>
                </a:solidFill>
              </a:rPr>
              <a:t>Field Block</a:t>
            </a:r>
            <a:r>
              <a:rPr lang="en-US" sz="950" dirty="0">
                <a:solidFill>
                  <a:schemeClr val="tx2"/>
                </a:solidFill>
              </a:rPr>
              <a:t> if exact wellbore matches are not found, maximizing data availability.</a:t>
            </a:r>
            <a:endParaRPr lang="az-Latn-AZ" sz="950" b="1" dirty="0">
              <a:solidFill>
                <a:schemeClr val="tx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E46C5F5-477B-557C-AC39-E4437533D562}"/>
              </a:ext>
            </a:extLst>
          </p:cNvPr>
          <p:cNvSpPr/>
          <p:nvPr/>
        </p:nvSpPr>
        <p:spPr>
          <a:xfrm>
            <a:off x="320040" y="1854152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Nomalization</a:t>
            </a:r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az-Latn-AZ" sz="950" b="1" dirty="0"/>
              <a:t> </a:t>
            </a:r>
            <a:r>
              <a:rPr lang="en-US" sz="950" b="1" dirty="0"/>
              <a:t>Problem:</a:t>
            </a:r>
            <a:r>
              <a:rPr lang="en-US" sz="950" dirty="0"/>
              <a:t> </a:t>
            </a:r>
            <a:r>
              <a:rPr lang="en-US" sz="950" dirty="0">
                <a:solidFill>
                  <a:schemeClr val="tx2"/>
                </a:solidFill>
              </a:rPr>
              <a:t>Standard substring replacement corrupted technical terms (e.g., a rule to fix "</a:t>
            </a:r>
            <a:r>
              <a:rPr lang="en-US" sz="950" dirty="0" err="1">
                <a:solidFill>
                  <a:schemeClr val="tx2"/>
                </a:solidFill>
              </a:rPr>
              <a:t>ccumulation</a:t>
            </a:r>
            <a:r>
              <a:rPr lang="en-US" sz="950" dirty="0">
                <a:solidFill>
                  <a:schemeClr val="tx2"/>
                </a:solidFill>
              </a:rPr>
              <a:t>" would accidentally break the word "a</a:t>
            </a:r>
            <a:r>
              <a:rPr lang="en-US" sz="950" b="1" dirty="0">
                <a:solidFill>
                  <a:schemeClr val="tx2"/>
                </a:solidFill>
              </a:rPr>
              <a:t>ccumulation</a:t>
            </a:r>
            <a:r>
              <a:rPr lang="en-US" sz="950" dirty="0">
                <a:solidFill>
                  <a:schemeClr val="tx2"/>
                </a:solidFill>
              </a:rPr>
              <a:t>" or "accumulator")</a:t>
            </a:r>
            <a:endParaRPr lang="az-Latn-AZ" sz="950" dirty="0">
              <a:solidFill>
                <a:schemeClr val="tx2"/>
              </a:solidFill>
            </a:endParaRPr>
          </a:p>
          <a:p>
            <a:r>
              <a:rPr lang="az-Latn-AZ" sz="11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r>
              <a:rPr lang="en-US" sz="950" dirty="0" err="1">
                <a:solidFill>
                  <a:schemeClr val="tx2"/>
                </a:solidFill>
              </a:rPr>
              <a:t>Implemented</a:t>
            </a:r>
            <a:r>
              <a:rPr lang="en-US" sz="950" dirty="0"/>
              <a:t> </a:t>
            </a:r>
            <a:r>
              <a:rPr lang="en-US" sz="950" b="1" dirty="0">
                <a:solidFill>
                  <a:schemeClr val="tx2"/>
                </a:solidFill>
              </a:rPr>
              <a:t>Word-Boundary Regex</a:t>
            </a:r>
            <a:r>
              <a:rPr lang="en-US" sz="950" dirty="0">
                <a:solidFill>
                  <a:schemeClr val="tx2"/>
                </a:solidFill>
              </a:rPr>
              <a:t> (\b...\b) to ensure normalizations only apply to standalone typos, preserving the integrity of complex drilling terminology</a:t>
            </a:r>
            <a:r>
              <a:rPr lang="en-US" sz="950" dirty="0"/>
              <a:t>.</a:t>
            </a:r>
            <a:endParaRPr lang="en-US" sz="950" dirty="0">
              <a:solidFill>
                <a:schemeClr val="tx2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355E55F-0F09-A2F7-2AEB-8402761C4F5A}"/>
              </a:ext>
            </a:extLst>
          </p:cNvPr>
          <p:cNvSpPr/>
          <p:nvPr/>
        </p:nvSpPr>
        <p:spPr>
          <a:xfrm>
            <a:off x="320040" y="4052961"/>
            <a:ext cx="8503920" cy="960120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r>
              <a:rPr lang="az-Latn-AZ" sz="11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z-Latn-AZ" sz="1150" b="1" dirty="0" err="1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az-Latn-AZ" sz="1150" b="1" dirty="0">
              <a:solidFill>
                <a:srgbClr val="1B7F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b="1" dirty="0"/>
              <a:t>Problem</a:t>
            </a:r>
            <a:r>
              <a:rPr lang="az-Latn-AZ" sz="950" b="1" dirty="0"/>
              <a:t> </a:t>
            </a:r>
            <a:r>
              <a:rPr lang="en-US" sz="950" b="1" dirty="0"/>
              <a:t>:</a:t>
            </a:r>
            <a:r>
              <a:rPr lang="en-US" sz="950" dirty="0"/>
              <a:t> </a:t>
            </a:r>
            <a:r>
              <a:rPr lang="en-US" sz="950" dirty="0">
                <a:solidFill>
                  <a:schemeClr val="tx2"/>
                </a:solidFill>
              </a:rPr>
              <a:t>Inconsistent naming conventions (e.g., using "/" vs "_" or extra spaces) in wellbore IDs caused matching failures</a:t>
            </a:r>
            <a:r>
              <a:rPr lang="az-Latn-AZ" sz="1200" dirty="0">
                <a:solidFill>
                  <a:schemeClr val="tx2"/>
                </a:solidFill>
              </a:rPr>
              <a:t>.</a:t>
            </a:r>
          </a:p>
          <a:p>
            <a:endParaRPr lang="az-Latn-AZ" sz="950" b="1" dirty="0">
              <a:solidFill>
                <a:schemeClr val="tx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</a:t>
            </a:r>
            <a:r>
              <a:rPr lang="en-US" sz="950" b="1" dirty="0"/>
              <a:t>:</a:t>
            </a:r>
            <a:r>
              <a:rPr lang="en-US" sz="950" dirty="0"/>
              <a:t> </a:t>
            </a:r>
            <a:r>
              <a:rPr lang="en-US" sz="950" dirty="0">
                <a:solidFill>
                  <a:schemeClr val="tx2"/>
                </a:solidFill>
              </a:rPr>
              <a:t>Applied </a:t>
            </a:r>
            <a:r>
              <a:rPr lang="en-US" sz="950" b="1" dirty="0">
                <a:solidFill>
                  <a:schemeClr val="tx2"/>
                </a:solidFill>
              </a:rPr>
              <a:t>Case-Insensitive &amp; Whitespace-Stripping</a:t>
            </a:r>
            <a:r>
              <a:rPr lang="en-US" sz="950" dirty="0">
                <a:solidFill>
                  <a:schemeClr val="tx2"/>
                </a:solidFill>
              </a:rPr>
              <a:t> logic to normalize well prefixes, ensuring reliable link between database records and PDF filenames.</a:t>
            </a:r>
            <a:endParaRPr lang="az-Latn-AZ" sz="950" b="1" dirty="0">
              <a:solidFill>
                <a:schemeClr val="tx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5681558-FAC1-2FB9-79E0-F8A569E92B54}"/>
              </a:ext>
            </a:extLst>
          </p:cNvPr>
          <p:cNvSpPr/>
          <p:nvPr/>
        </p:nvSpPr>
        <p:spPr>
          <a:xfrm>
            <a:off x="320040" y="1854152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6E48F69-B23F-78F1-A76D-EB51765BB14E}"/>
              </a:ext>
            </a:extLst>
          </p:cNvPr>
          <p:cNvSpPr/>
          <p:nvPr/>
        </p:nvSpPr>
        <p:spPr>
          <a:xfrm>
            <a:off x="320040" y="2948500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7AFCB17-0B14-9D31-FC01-684F5F951E12}"/>
              </a:ext>
            </a:extLst>
          </p:cNvPr>
          <p:cNvSpPr/>
          <p:nvPr/>
        </p:nvSpPr>
        <p:spPr>
          <a:xfrm>
            <a:off x="320040" y="4052961"/>
            <a:ext cx="54864" cy="9601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4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NLP Analysis on Extracted 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84871" y="882748"/>
            <a:ext cx="8503920" cy="1353312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09489" y="896112"/>
            <a:ext cx="502920" cy="131673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502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8778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Depths — numeric values with mMD / mTVD units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— 'FLX packer', 'BOP', 'TDS', 'spear BHA', 'XO'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64592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— RPM, pressure (bar), flow rate (lpm), weight (MT)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references — '00:00', '24h', duration expressions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60120" y="208483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spaCy custom NER + rule-based EntityRuler patterns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308860"/>
            <a:ext cx="8503920" cy="1316736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318004"/>
            <a:ext cx="502920" cy="13167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040" y="2212848"/>
            <a:ext cx="502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Classification / Tagging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TRIP_IN · TRIP_OUT · CIRCULATE · CEMENT · PRESSURE_TEST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        EQUIPMENT_FAILURE · REPAIR · WAIT · CUT · FISHING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305409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rule-based classifier on operation remarks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327355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upgrade: fine-tuned BERT text 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680460"/>
            <a:ext cx="8503920" cy="1316736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680460"/>
            <a:ext cx="502920" cy="1316736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621024"/>
            <a:ext cx="5029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6941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TF-IDF Extraction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02336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all remark + summary text fields across 1000 PDFs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4242816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extracts top-N unique keywords per report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462272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well-specific problems and anomalies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468172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 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per-report keyword list + corpus-wide heatmap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3EB899-EC9D-D321-1180-500003F8E3C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42089-6C6B-F18A-854E-7E2EE72B7AF7}"/>
              </a:ext>
            </a:extLst>
          </p:cNvPr>
          <p:cNvSpPr txBox="1"/>
          <p:nvPr/>
        </p:nvSpPr>
        <p:spPr>
          <a:xfrm>
            <a:off x="-1" y="158234"/>
            <a:ext cx="5620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</a:t>
            </a:r>
            <a:r>
              <a:rPr lang="az-Latn-AZ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Data-Driven Operational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Intellegence</a:t>
            </a:r>
            <a:endParaRPr lang="en-US" sz="1800" dirty="0"/>
          </a:p>
        </p:txBody>
      </p:sp>
      <p:sp>
        <p:nvSpPr>
          <p:cNvPr id="5" name="Shape 11">
            <a:extLst>
              <a:ext uri="{FF2B5EF4-FFF2-40B4-BE49-F238E27FC236}">
                <a16:creationId xmlns:a16="http://schemas.microsoft.com/office/drawing/2014/main" id="{42C100FF-6778-05B8-EB7C-0F2E08A5BB29}"/>
              </a:ext>
            </a:extLst>
          </p:cNvPr>
          <p:cNvSpPr/>
          <p:nvPr/>
        </p:nvSpPr>
        <p:spPr>
          <a:xfrm>
            <a:off x="759655" y="892419"/>
            <a:ext cx="8001000" cy="1316736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Equipment Mention Frequency</a:t>
            </a:r>
            <a:r>
              <a:rPr lang="en-US" sz="1600" b="1" dirty="0">
                <a:solidFill>
                  <a:schemeClr val="tx2"/>
                </a:solidFill>
              </a:rPr>
              <a:t>:</a:t>
            </a:r>
            <a:r>
              <a:rPr lang="en-US" sz="1600" dirty="0">
                <a:solidFill>
                  <a:schemeClr val="tx2"/>
                </a:solidFill>
              </a:rPr>
              <a:t>  Aggregates NER results to rank the most frequently discussed tools across the entire project (e.g., identifying high-maintenance items like </a:t>
            </a:r>
            <a:r>
              <a:rPr lang="en-US" sz="1600" i="1" dirty="0">
                <a:solidFill>
                  <a:schemeClr val="tx2"/>
                </a:solidFill>
              </a:rPr>
              <a:t>Mud Motors</a:t>
            </a:r>
            <a:r>
              <a:rPr lang="en-US" sz="1600" dirty="0">
                <a:solidFill>
                  <a:schemeClr val="tx2"/>
                </a:solidFill>
              </a:rPr>
              <a:t> or </a:t>
            </a:r>
            <a:r>
              <a:rPr lang="en-US" sz="1600" i="1" dirty="0">
                <a:solidFill>
                  <a:schemeClr val="tx2"/>
                </a:solidFill>
              </a:rPr>
              <a:t>PDC Bits</a:t>
            </a:r>
            <a:r>
              <a:rPr lang="en-US" sz="1600" dirty="0">
                <a:solidFill>
                  <a:schemeClr val="tx2"/>
                </a:solidFill>
              </a:rPr>
              <a:t>).</a:t>
            </a:r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F85551DC-5EE5-142C-314E-2152ED378766}"/>
              </a:ext>
            </a:extLst>
          </p:cNvPr>
          <p:cNvSpPr/>
          <p:nvPr/>
        </p:nvSpPr>
        <p:spPr>
          <a:xfrm>
            <a:off x="256735" y="892419"/>
            <a:ext cx="502920" cy="13167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6DBE76A4-FCFC-5AA4-2AB5-0F9CCD6E1D3B}"/>
              </a:ext>
            </a:extLst>
          </p:cNvPr>
          <p:cNvSpPr/>
          <p:nvPr/>
        </p:nvSpPr>
        <p:spPr>
          <a:xfrm>
            <a:off x="759655" y="2284971"/>
            <a:ext cx="8001000" cy="1316736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Temporal Event Density: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Analyzes </a:t>
            </a:r>
            <a:r>
              <a:rPr lang="en-US" sz="1600" dirty="0" err="1">
                <a:solidFill>
                  <a:schemeClr val="tx2"/>
                </a:solidFill>
              </a:rPr>
              <a:t>start_time</a:t>
            </a:r>
            <a:r>
              <a:rPr lang="en-US" sz="1600" dirty="0">
                <a:solidFill>
                  <a:schemeClr val="tx2"/>
                </a:solidFill>
              </a:rPr>
              <a:t> data to generate an hourly distribution of activities, visualizing operational intensity over a 24-hour cycle.</a:t>
            </a:r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CD3C6A44-3513-37B1-DFBD-E2DB07B4DC0F}"/>
              </a:ext>
            </a:extLst>
          </p:cNvPr>
          <p:cNvSpPr/>
          <p:nvPr/>
        </p:nvSpPr>
        <p:spPr>
          <a:xfrm>
            <a:off x="759655" y="3668530"/>
            <a:ext cx="8001000" cy="1316736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solidFill>
                  <a:schemeClr val="accent1"/>
                </a:solidFill>
              </a:rPr>
              <a:t>Activity Co-occurrence Matrix: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Statistically maps which activities occur together, helping engineers understand correlations between specific operations and non-productive time (NPT).</a:t>
            </a: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1374B9C7-FF11-8CE0-EF30-EFBD3E2D8BD2}"/>
              </a:ext>
            </a:extLst>
          </p:cNvPr>
          <p:cNvSpPr/>
          <p:nvPr/>
        </p:nvSpPr>
        <p:spPr>
          <a:xfrm>
            <a:off x="256735" y="2275978"/>
            <a:ext cx="502920" cy="13167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C45EB8B-9DE7-8884-CC78-FEE2C34AAA3F}"/>
              </a:ext>
            </a:extLst>
          </p:cNvPr>
          <p:cNvSpPr/>
          <p:nvPr/>
        </p:nvSpPr>
        <p:spPr>
          <a:xfrm>
            <a:off x="256735" y="3668530"/>
            <a:ext cx="502920" cy="13167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5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846124-1FED-93BA-9F1C-65C40B28FD7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dirty="0"/>
          </a:p>
        </p:txBody>
      </p:sp>
      <p:sp>
        <p:nvSpPr>
          <p:cNvPr id="3" name="Shape 32">
            <a:extLst>
              <a:ext uri="{FF2B5EF4-FFF2-40B4-BE49-F238E27FC236}">
                <a16:creationId xmlns:a16="http://schemas.microsoft.com/office/drawing/2014/main" id="{DB592DB9-B797-1B33-90EE-2BB1A0DD6AEC}"/>
              </a:ext>
            </a:extLst>
          </p:cNvPr>
          <p:cNvSpPr/>
          <p:nvPr/>
        </p:nvSpPr>
        <p:spPr>
          <a:xfrm>
            <a:off x="552156" y="1119377"/>
            <a:ext cx="7828671" cy="526543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300" b="1" dirty="0">
                <a:solidFill>
                  <a:schemeClr val="accent1"/>
                </a:solidFill>
              </a:rPr>
              <a:t>Phase 1: Structuring (Task 1)</a:t>
            </a:r>
            <a:endParaRPr lang="en-US" sz="1300" dirty="0">
              <a:solidFill>
                <a:schemeClr val="accent1"/>
              </a:solidFill>
            </a:endParaRPr>
          </a:p>
          <a:p>
            <a:r>
              <a:rPr lang="en-US" sz="1300" dirty="0">
                <a:solidFill>
                  <a:schemeClr val="tx2"/>
                </a:solidFill>
              </a:rPr>
              <a:t>Conversion of raw, unstructured PDF daily drilling reports into a high-integrity </a:t>
            </a:r>
            <a:r>
              <a:rPr lang="en-US" sz="1300" b="1" dirty="0">
                <a:solidFill>
                  <a:schemeClr val="tx2"/>
                </a:solidFill>
              </a:rPr>
              <a:t>SQLite relational database</a:t>
            </a:r>
            <a:r>
              <a:rPr lang="en-US" sz="13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Shape 32">
            <a:extLst>
              <a:ext uri="{FF2B5EF4-FFF2-40B4-BE49-F238E27FC236}">
                <a16:creationId xmlns:a16="http://schemas.microsoft.com/office/drawing/2014/main" id="{F3CE5C27-26AA-A5DD-F80F-49B7A48F08A9}"/>
              </a:ext>
            </a:extLst>
          </p:cNvPr>
          <p:cNvSpPr/>
          <p:nvPr/>
        </p:nvSpPr>
        <p:spPr>
          <a:xfrm>
            <a:off x="552156" y="1968511"/>
            <a:ext cx="7828671" cy="685800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300" b="1" dirty="0">
                <a:solidFill>
                  <a:schemeClr val="accent1"/>
                </a:solidFill>
              </a:rPr>
              <a:t>Phase 2: Semantic Matching (Task 2)</a:t>
            </a:r>
            <a:endParaRPr lang="en-US" sz="1300" dirty="0">
              <a:solidFill>
                <a:schemeClr val="accent1"/>
              </a:solidFill>
            </a:endParaRPr>
          </a:p>
          <a:p>
            <a:r>
              <a:rPr lang="en-US" sz="1300" dirty="0">
                <a:solidFill>
                  <a:schemeClr val="tx2"/>
                </a:solidFill>
              </a:rPr>
              <a:t>Connecting database operations to NDS events using a </a:t>
            </a:r>
            <a:r>
              <a:rPr lang="en-US" sz="1300" b="1" dirty="0">
                <a:solidFill>
                  <a:schemeClr val="tx2"/>
                </a:solidFill>
              </a:rPr>
              <a:t>Hybrid Ensemble</a:t>
            </a:r>
            <a:r>
              <a:rPr lang="en-US" sz="1300" dirty="0">
                <a:solidFill>
                  <a:schemeClr val="tx2"/>
                </a:solidFill>
              </a:rPr>
              <a:t> (Sentence-BERT + BM25) for semantic and lexical alignment</a:t>
            </a:r>
            <a:r>
              <a:rPr lang="en-US" sz="1300" dirty="0"/>
              <a:t>.</a:t>
            </a:r>
          </a:p>
        </p:txBody>
      </p:sp>
      <p:sp>
        <p:nvSpPr>
          <p:cNvPr id="5" name="Shape 32">
            <a:extLst>
              <a:ext uri="{FF2B5EF4-FFF2-40B4-BE49-F238E27FC236}">
                <a16:creationId xmlns:a16="http://schemas.microsoft.com/office/drawing/2014/main" id="{EE01A10D-113D-5B33-5157-D39601B96EE5}"/>
              </a:ext>
            </a:extLst>
          </p:cNvPr>
          <p:cNvSpPr/>
          <p:nvPr/>
        </p:nvSpPr>
        <p:spPr>
          <a:xfrm>
            <a:off x="552156" y="2940954"/>
            <a:ext cx="7828667" cy="685801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300" b="1" dirty="0">
                <a:solidFill>
                  <a:schemeClr val="accent1"/>
                </a:solidFill>
              </a:rPr>
              <a:t>Phase 3: Intelligence Layer (Task 3)</a:t>
            </a:r>
            <a:endParaRPr lang="en-US" sz="1300" dirty="0">
              <a:solidFill>
                <a:schemeClr val="accent1"/>
              </a:solidFill>
            </a:endParaRPr>
          </a:p>
          <a:p>
            <a:r>
              <a:rPr lang="en-US" sz="1300" dirty="0">
                <a:solidFill>
                  <a:schemeClr val="tx2"/>
                </a:solidFill>
              </a:rPr>
              <a:t>Applying </a:t>
            </a:r>
            <a:r>
              <a:rPr lang="en-US" sz="1300" b="1" dirty="0">
                <a:solidFill>
                  <a:schemeClr val="tx2"/>
                </a:solidFill>
              </a:rPr>
              <a:t>NLP techniques</a:t>
            </a:r>
            <a:r>
              <a:rPr lang="en-US" sz="1300" dirty="0">
                <a:solidFill>
                  <a:schemeClr val="tx2"/>
                </a:solidFill>
              </a:rPr>
              <a:t> (NER, Classification, TF-IDF) to transform text into actionable engineering insights and statistical summaries.</a:t>
            </a:r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85B4D973-1938-3500-EC25-3A2191462671}"/>
              </a:ext>
            </a:extLst>
          </p:cNvPr>
          <p:cNvSpPr/>
          <p:nvPr/>
        </p:nvSpPr>
        <p:spPr>
          <a:xfrm>
            <a:off x="4466492" y="1645920"/>
            <a:ext cx="0" cy="32259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31">
            <a:extLst>
              <a:ext uri="{FF2B5EF4-FFF2-40B4-BE49-F238E27FC236}">
                <a16:creationId xmlns:a16="http://schemas.microsoft.com/office/drawing/2014/main" id="{275D1C37-8507-D0CA-857D-C89C9E721EB2}"/>
              </a:ext>
            </a:extLst>
          </p:cNvPr>
          <p:cNvSpPr/>
          <p:nvPr/>
        </p:nvSpPr>
        <p:spPr>
          <a:xfrm>
            <a:off x="4466492" y="2654311"/>
            <a:ext cx="0" cy="32259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DA22F3E-B64D-731B-9524-5ED5402FC7D1}"/>
              </a:ext>
            </a:extLst>
          </p:cNvPr>
          <p:cNvSpPr/>
          <p:nvPr/>
        </p:nvSpPr>
        <p:spPr>
          <a:xfrm>
            <a:off x="579588" y="4024121"/>
            <a:ext cx="7828667" cy="880798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300" b="1" dirty="0">
                <a:solidFill>
                  <a:schemeClr val="accent5"/>
                </a:solidFill>
              </a:rPr>
              <a:t> Technical Note:</a:t>
            </a:r>
            <a:r>
              <a:rPr lang="en-US" sz="1300" dirty="0">
                <a:solidFill>
                  <a:schemeClr val="accent5"/>
                </a:solidFill>
              </a:rPr>
              <a:t> </a:t>
            </a:r>
            <a:r>
              <a:rPr lang="en-US" sz="1300" dirty="0">
                <a:solidFill>
                  <a:schemeClr val="tx2"/>
                </a:solidFill>
              </a:rPr>
              <a:t>The entire pipeline shares a unified </a:t>
            </a:r>
            <a:r>
              <a:rPr lang="en-US" sz="1300" b="1" dirty="0">
                <a:solidFill>
                  <a:schemeClr val="tx2"/>
                </a:solidFill>
              </a:rPr>
              <a:t>Drilling Abbreviation Expansion</a:t>
            </a:r>
            <a:r>
              <a:rPr lang="en-US" sz="1300" dirty="0">
                <a:solidFill>
                  <a:schemeClr val="tx2"/>
                </a:solidFill>
              </a:rPr>
              <a:t> engine, ensuring that     shorthand like </a:t>
            </a:r>
            <a:r>
              <a:rPr lang="en-US" sz="1300" i="1" dirty="0">
                <a:solidFill>
                  <a:schemeClr val="tx2"/>
                </a:solidFill>
              </a:rPr>
              <a:t>"RIH"</a:t>
            </a:r>
            <a:r>
              <a:rPr lang="en-US" sz="1300" dirty="0">
                <a:solidFill>
                  <a:schemeClr val="tx2"/>
                </a:solidFill>
              </a:rPr>
              <a:t> or </a:t>
            </a:r>
            <a:r>
              <a:rPr lang="en-US" sz="1300" i="1" dirty="0">
                <a:solidFill>
                  <a:schemeClr val="tx2"/>
                </a:solidFill>
              </a:rPr>
              <a:t>"POOH"</a:t>
            </a:r>
            <a:r>
              <a:rPr lang="en-US" sz="1300" dirty="0">
                <a:solidFill>
                  <a:schemeClr val="tx2"/>
                </a:solidFill>
              </a:rPr>
              <a:t> is expanded to full English text before analysis, maximizing the accuracy of all  downstream NLP models.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B442C01-C750-25EC-93D7-0AB8463AF1C2}"/>
              </a:ext>
            </a:extLst>
          </p:cNvPr>
          <p:cNvSpPr/>
          <p:nvPr/>
        </p:nvSpPr>
        <p:spPr>
          <a:xfrm>
            <a:off x="552156" y="4024122"/>
            <a:ext cx="54864" cy="880797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1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Database Schema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Relational Schema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074920" cy="475488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07008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435608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wellbore_id, report_number, period, operator, rig_name, depths, summary…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728216"/>
            <a:ext cx="5074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728216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746504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975104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document_id, start_time, end_time, end_depth_mmd, main_activity, sub_activity, state, remark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267712"/>
            <a:ext cx="5074920" cy="475488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28600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drilling_fluids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514600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document_id, fluid_type, density, plastic_viscosity, yield_point, sample_time, sample_depth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5074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807208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" y="2825496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equipment_failures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054096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document_id, start_time, depth, equipment_system, equipment_class, downtime_min, equipment_repaired, remark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5074920" cy="475488"/>
          </a:xfrm>
          <a:prstGeom prst="rect">
            <a:avLst/>
          </a:prstGeom>
          <a:solidFill>
            <a:srgbClr val="F4F8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8912" y="3364992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gas_readings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593592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document_id, time, class, depth_top_mmd, highest_gas_pct, c1_ppm … ic5_ppm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5074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886200"/>
            <a:ext cx="54864" cy="475488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904488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other_tables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4133088"/>
            <a:ext cx="4892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document_id, raw_json  (safety net — no data lost)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23560" y="804672"/>
            <a:ext cx="0" cy="4023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06440" y="8046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06440" y="1234440"/>
            <a:ext cx="2971800" cy="420624"/>
          </a:xfrm>
          <a:prstGeom prst="rect">
            <a:avLst/>
          </a:prstGeom>
          <a:solidFill>
            <a:srgbClr val="1B7F79"/>
          </a:solidFill>
          <a:ln w="10160">
            <a:solidFill>
              <a:srgbClr val="1B7F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06440" y="12344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 (1000 reports)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87768" y="1655064"/>
            <a:ext cx="0" cy="18288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06440" y="1837944"/>
            <a:ext cx="2971800" cy="420624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06440" y="183794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extraction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87768" y="2258568"/>
            <a:ext cx="0" cy="18288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06440" y="2441448"/>
            <a:ext cx="2971800" cy="420624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06440" y="244144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Heading-based classification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87768" y="2862072"/>
            <a:ext cx="0" cy="18288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06440" y="3044952"/>
            <a:ext cx="2971800" cy="420624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06440" y="304495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regex parsing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87768" y="3465576"/>
            <a:ext cx="0" cy="18288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06440" y="3648456"/>
            <a:ext cx="2971800" cy="420624"/>
          </a:xfrm>
          <a:prstGeom prst="rect">
            <a:avLst/>
          </a:prstGeom>
          <a:solidFill>
            <a:srgbClr val="F4F8F8"/>
          </a:solidFill>
          <a:ln w="1016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06440" y="364845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JSON storage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287768" y="4069080"/>
            <a:ext cx="0" cy="182880"/>
          </a:xfrm>
          <a:prstGeom prst="line">
            <a:avLst/>
          </a:prstGeom>
          <a:noFill/>
          <a:ln w="1905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06440" y="4251960"/>
            <a:ext cx="2971800" cy="420624"/>
          </a:xfrm>
          <a:prstGeom prst="rect">
            <a:avLst/>
          </a:prstGeom>
          <a:solidFill>
            <a:srgbClr val="1B7F79"/>
          </a:solidFill>
          <a:ln w="10160">
            <a:solidFill>
              <a:srgbClr val="1B7F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06440" y="425196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 matching &amp; NLP modules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773936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23744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73552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0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73168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22976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72784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22592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22208" y="228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73936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23744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73552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23360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73168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22976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22592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72400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22208" y="10515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24128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73936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23744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73552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023360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73168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22976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72784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22592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72400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22208" y="1874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24128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773936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23744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273552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23360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73168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22976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72784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22592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72400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522208" y="26974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4320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024128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773936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523744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73552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023360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73168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522976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2784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022592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772400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522208" y="3520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74320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24128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773936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523744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273552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023360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773168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522976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272784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022592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772400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522208" y="43434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Summary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502920" y="1207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extract_pipeline_fixed.py   — full PDF extraction pipeline (Task 1)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02920" y="17145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nds_matcher.py              — multi-algorithm NDS event matching (Task 2)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02920" y="23042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nlp_analysis.py             — NER, activity tagging, TF-IDF (Task 3)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02920" y="289161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document_database.sqlite    — structured relational database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0292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document_database.json      — full JSON export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02920" y="39364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A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 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         — this deck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02920" y="4663440"/>
            <a:ext cx="8229600" cy="36576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0292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EILINK R&amp;D CENTER  ·  Technical Task Stage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1832</Words>
  <Application>Microsoft Office PowerPoint</Application>
  <PresentationFormat>On-screen Show (16:9)</PresentationFormat>
  <Paragraphs>209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Drilling Report NLP Pipeline</dc:title>
  <dc:subject>PptxGenJS Presentation</dc:subject>
  <dc:creator>PptxGenJS</dc:creator>
  <cp:lastModifiedBy>vidadi cavadov</cp:lastModifiedBy>
  <cp:revision>2</cp:revision>
  <dcterms:created xsi:type="dcterms:W3CDTF">2026-05-08T12:59:35Z</dcterms:created>
  <dcterms:modified xsi:type="dcterms:W3CDTF">2026-05-08T17:25:51Z</dcterms:modified>
</cp:coreProperties>
</file>